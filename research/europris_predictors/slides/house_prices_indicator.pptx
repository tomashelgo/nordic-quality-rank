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use prices" id="{8ae2d757-0fa5-78f3-a7d2-9cad5fd09de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sales</c:v>
                </c:pt>
              </c:strCache>
            </c:strRef>
          </c:tx>
          <c:spPr>
            <a:solidFill>
              <a:srgbClr val="1F3A4D"/>
            </a:solidFill>
            <a:ln w="25400" cap="flat">
              <a:solidFill>
                <a:srgbClr val="1F3A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3A4D"/>
              </a:solidFill>
              <a:ln w="9525" cap="flat">
                <a:solidFill>
                  <a:srgbClr val="1F3A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2002</c:v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2006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2010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>2014</c:v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>2018</c:v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>2022</c:v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2026</c:v>
                  </c:pt>
                  <c:pt idx="100">
                    <c:v/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-0.12</c:v>
                </c:pt>
                <c:pt idx="1">
                  <c:v>1.52</c:v>
                </c:pt>
                <c:pt idx="2">
                  <c:v>11.47</c:v>
                </c:pt>
                <c:pt idx="3">
                  <c:v>6.32</c:v>
                </c:pt>
                <c:pt idx="4">
                  <c:v>4.34</c:v>
                </c:pt>
                <c:pt idx="5">
                  <c:v>4.67</c:v>
                </c:pt>
                <c:pt idx="6">
                  <c:v>7.65</c:v>
                </c:pt>
                <c:pt idx="7">
                  <c:v>4.83</c:v>
                </c:pt>
                <c:pt idx="8">
                  <c:v>6.84</c:v>
                </c:pt>
                <c:pt idx="9">
                  <c:v>11.03</c:v>
                </c:pt>
                <c:pt idx="10">
                  <c:v>3.26</c:v>
                </c:pt>
                <c:pt idx="11">
                  <c:v>14.31</c:v>
                </c:pt>
                <c:pt idx="12">
                  <c:v>4.94</c:v>
                </c:pt>
                <c:pt idx="13">
                  <c:v>6.26</c:v>
                </c:pt>
                <c:pt idx="14">
                  <c:v>10.48</c:v>
                </c:pt>
                <c:pt idx="15">
                  <c:v>-0.11</c:v>
                </c:pt>
                <c:pt idx="16">
                  <c:v>4.61</c:v>
                </c:pt>
                <c:pt idx="17">
                  <c:v>7.12</c:v>
                </c:pt>
                <c:pt idx="18">
                  <c:v>8.16</c:v>
                </c:pt>
                <c:pt idx="19">
                  <c:v>17.35</c:v>
                </c:pt>
                <c:pt idx="20">
                  <c:v>12.41</c:v>
                </c:pt>
                <c:pt idx="21">
                  <c:v>12.13</c:v>
                </c:pt>
                <c:pt idx="22">
                  <c:v>16.21</c:v>
                </c:pt>
                <c:pt idx="23">
                  <c:v>12.57</c:v>
                </c:pt>
                <c:pt idx="24">
                  <c:v>12.14</c:v>
                </c:pt>
                <c:pt idx="25">
                  <c:v>14.42</c:v>
                </c:pt>
                <c:pt idx="26">
                  <c:v>8.15</c:v>
                </c:pt>
                <c:pt idx="27">
                  <c:v>2.99</c:v>
                </c:pt>
                <c:pt idx="28">
                  <c:v>7.47</c:v>
                </c:pt>
                <c:pt idx="29">
                  <c:v>1.29</c:v>
                </c:pt>
                <c:pt idx="30">
                  <c:v>5.2</c:v>
                </c:pt>
                <c:pt idx="31">
                  <c:v>-3.71</c:v>
                </c:pt>
                <c:pt idx="32">
                  <c:v>6.13</c:v>
                </c:pt>
                <c:pt idx="33">
                  <c:v>5.21</c:v>
                </c:pt>
                <c:pt idx="34">
                  <c:v>10.24</c:v>
                </c:pt>
                <c:pt idx="35">
                  <c:v>6.38</c:v>
                </c:pt>
                <c:pt idx="36">
                  <c:v>2.96</c:v>
                </c:pt>
                <c:pt idx="37">
                  <c:v>5.01</c:v>
                </c:pt>
                <c:pt idx="38">
                  <c:v>10.6</c:v>
                </c:pt>
                <c:pt idx="39">
                  <c:v>4.35</c:v>
                </c:pt>
                <c:pt idx="40">
                  <c:v>7.78</c:v>
                </c:pt>
                <c:pt idx="41">
                  <c:v>7.5</c:v>
                </c:pt>
                <c:pt idx="42">
                  <c:v>4.41</c:v>
                </c:pt>
                <c:pt idx="43">
                  <c:v>11.45</c:v>
                </c:pt>
                <c:pt idx="44">
                  <c:v>7.51</c:v>
                </c:pt>
                <c:pt idx="45">
                  <c:v>7.53</c:v>
                </c:pt>
                <c:pt idx="46">
                  <c:v>5.29</c:v>
                </c:pt>
                <c:pt idx="47">
                  <c:v>5.02</c:v>
                </c:pt>
                <c:pt idx="48">
                  <c:v>4.51</c:v>
                </c:pt>
                <c:pt idx="49">
                  <c:v>2.78</c:v>
                </c:pt>
                <c:pt idx="50">
                  <c:v>1.85</c:v>
                </c:pt>
                <c:pt idx="51">
                  <c:v>1.04</c:v>
                </c:pt>
                <c:pt idx="52">
                  <c:v>0.98</c:v>
                </c:pt>
                <c:pt idx="53">
                  <c:v>3.91</c:v>
                </c:pt>
                <c:pt idx="54">
                  <c:v>9.34</c:v>
                </c:pt>
                <c:pt idx="55">
                  <c:v>7.08</c:v>
                </c:pt>
                <c:pt idx="56">
                  <c:v>8.12</c:v>
                </c:pt>
                <c:pt idx="57">
                  <c:v>5.59</c:v>
                </c:pt>
                <c:pt idx="58">
                  <c:v>6.53</c:v>
                </c:pt>
                <c:pt idx="59">
                  <c:v>1.96</c:v>
                </c:pt>
                <c:pt idx="60">
                  <c:v>5.56</c:v>
                </c:pt>
                <c:pt idx="61">
                  <c:v>4.59</c:v>
                </c:pt>
                <c:pt idx="62">
                  <c:v>3.96</c:v>
                </c:pt>
                <c:pt idx="63">
                  <c:v>8.03</c:v>
                </c:pt>
                <c:pt idx="64">
                  <c:v>6.24</c:v>
                </c:pt>
                <c:pt idx="65">
                  <c:v>3.58</c:v>
                </c:pt>
                <c:pt idx="66">
                  <c:v>6.17</c:v>
                </c:pt>
                <c:pt idx="67">
                  <c:v>2.62</c:v>
                </c:pt>
                <c:pt idx="68">
                  <c:v>3.73</c:v>
                </c:pt>
                <c:pt idx="69">
                  <c:v>3.11</c:v>
                </c:pt>
                <c:pt idx="70">
                  <c:v>2.49</c:v>
                </c:pt>
                <c:pt idx="71">
                  <c:v>2.56</c:v>
                </c:pt>
                <c:pt idx="72">
                  <c:v>4.29</c:v>
                </c:pt>
                <c:pt idx="73">
                  <c:v>3.31</c:v>
                </c:pt>
                <c:pt idx="74">
                  <c:v>-0.69</c:v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3.05</c:v>
                </c:pt>
                <c:pt idx="89">
                  <c:v>3.99</c:v>
                </c:pt>
                <c:pt idx="90">
                  <c:v>2.88</c:v>
                </c:pt>
                <c:pt idx="91">
                  <c:v>2.51</c:v>
                </c:pt>
                <c:pt idx="92">
                  <c:v>4.28</c:v>
                </c:pt>
                <c:pt idx="93">
                  <c:v>3.12</c:v>
                </c:pt>
                <c:pt idx="94">
                  <c:v>3.86</c:v>
                </c:pt>
                <c:pt idx="95">
                  <c:v>6.95</c:v>
                </c:pt>
                <c:pt idx="96">
                  <c:v>7.24</c:v>
                </c:pt>
                <c:pt idx="97">
                  <c:v>8.78</c:v>
                </c:pt>
                <c:pt idx="98">
                  <c:v>4.59</c:v>
                </c:pt>
                <c:pt idx="99">
                  <c:v>5.44</c:v>
                </c:pt>
                <c:pt idx="100">
                  <c:v>1.93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House prices (one quarter earlier)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2002</c:v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2006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2010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>2014</c:v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>2018</c:v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>2022</c:v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2026</c:v>
                  </c:pt>
                  <c:pt idx="100">
                    <c:v/>
                  </c:pt>
                </c:lvl>
              </c:multiLvlStrCache>
            </c:multiLvlStrRef>
          </c:cat>
          <c:val>
            <c:numRef>
              <c:f>Sheet1!$C$2:$C$102</c:f>
              <c:numCache>
                <c:formatCode>General</c:formatCode>
                <c:ptCount val="101"/>
                <c:pt idx="0">
                  <c:v>6.95</c:v>
                </c:pt>
                <c:pt idx="1">
                  <c:v>4.71</c:v>
                </c:pt>
                <c:pt idx="2">
                  <c:v>7.64</c:v>
                </c:pt>
                <c:pt idx="3">
                  <c:v>7.41</c:v>
                </c:pt>
                <c:pt idx="4">
                  <c:v>7.17</c:v>
                </c:pt>
                <c:pt idx="5">
                  <c:v>6.45</c:v>
                </c:pt>
                <c:pt idx="6">
                  <c:v>3.17</c:v>
                </c:pt>
                <c:pt idx="7">
                  <c:v>2.73</c:v>
                </c:pt>
                <c:pt idx="8">
                  <c:v>1.77</c:v>
                </c:pt>
                <c:pt idx="9">
                  <c:v>-1.08</c:v>
                </c:pt>
                <c:pt idx="10">
                  <c:v>1.98</c:v>
                </c:pt>
                <c:pt idx="11">
                  <c:v>3.96</c:v>
                </c:pt>
                <c:pt idx="12">
                  <c:v>8.81</c:v>
                </c:pt>
                <c:pt idx="13">
                  <c:v>9.75</c:v>
                </c:pt>
                <c:pt idx="14">
                  <c:v>10.16</c:v>
                </c:pt>
                <c:pt idx="15">
                  <c:v>10.04</c:v>
                </c:pt>
                <c:pt idx="16">
                  <c:v>6.98</c:v>
                </c:pt>
                <c:pt idx="17">
                  <c:v>8.16</c:v>
                </c:pt>
                <c:pt idx="18">
                  <c:v>8.87</c:v>
                </c:pt>
                <c:pt idx="19">
                  <c:v>7.69</c:v>
                </c:pt>
                <c:pt idx="20">
                  <c:v>9.8</c:v>
                </c:pt>
                <c:pt idx="21">
                  <c:v>11.84</c:v>
                </c:pt>
                <c:pt idx="22">
                  <c:v>14.12</c:v>
                </c:pt>
                <c:pt idx="23">
                  <c:v>15.36</c:v>
                </c:pt>
                <c:pt idx="24">
                  <c:v>15.25</c:v>
                </c:pt>
                <c:pt idx="25">
                  <c:v>14.16</c:v>
                </c:pt>
                <c:pt idx="26">
                  <c:v>10.83</c:v>
                </c:pt>
                <c:pt idx="27">
                  <c:v>7.31</c:v>
                </c:pt>
                <c:pt idx="28">
                  <c:v>3.58</c:v>
                </c:pt>
                <c:pt idx="29">
                  <c:v>1.12</c:v>
                </c:pt>
                <c:pt idx="30">
                  <c:v>-2.13</c:v>
                </c:pt>
                <c:pt idx="31">
                  <c:v>-7.16</c:v>
                </c:pt>
                <c:pt idx="32">
                  <c:v>-5.34</c:v>
                </c:pt>
                <c:pt idx="33">
                  <c:v>-1.54</c:v>
                </c:pt>
                <c:pt idx="34">
                  <c:v>3.67</c:v>
                </c:pt>
                <c:pt idx="35">
                  <c:v>10.97</c:v>
                </c:pt>
                <c:pt idx="36">
                  <c:v>10.15</c:v>
                </c:pt>
                <c:pt idx="37">
                  <c:v>8.77</c:v>
                </c:pt>
                <c:pt idx="38">
                  <c:v>6.44</c:v>
                </c:pt>
                <c:pt idx="39">
                  <c:v>6.31</c:v>
                </c:pt>
                <c:pt idx="40">
                  <c:v>8.11</c:v>
                </c:pt>
                <c:pt idx="41">
                  <c:v>7.11</c:v>
                </c:pt>
                <c:pt idx="42">
                  <c:v>7.98</c:v>
                </c:pt>
                <c:pt idx="43">
                  <c:v>7.63</c:v>
                </c:pt>
                <c:pt idx="44">
                  <c:v>6.11</c:v>
                </c:pt>
                <c:pt idx="45">
                  <c:v>6.63</c:v>
                </c:pt>
                <c:pt idx="46">
                  <c:v>6.84</c:v>
                </c:pt>
                <c:pt idx="47">
                  <c:v>6.64</c:v>
                </c:pt>
                <c:pt idx="48">
                  <c:v>6.09</c:v>
                </c:pt>
                <c:pt idx="49">
                  <c:v>5.58</c:v>
                </c:pt>
                <c:pt idx="50">
                  <c:v>3.09</c:v>
                </c:pt>
                <c:pt idx="51">
                  <c:v>1.01</c:v>
                </c:pt>
                <c:pt idx="52">
                  <c:v>0.33</c:v>
                </c:pt>
                <c:pt idx="53">
                  <c:v>1.37</c:v>
                </c:pt>
                <c:pt idx="54">
                  <c:v>3.42</c:v>
                </c:pt>
                <c:pt idx="55">
                  <c:v>5.64</c:v>
                </c:pt>
                <c:pt idx="56">
                  <c:v>6.95</c:v>
                </c:pt>
                <c:pt idx="57">
                  <c:v>6.41</c:v>
                </c:pt>
                <c:pt idx="58">
                  <c:v>5.91</c:v>
                </c:pt>
                <c:pt idx="59">
                  <c:v>4.44</c:v>
                </c:pt>
                <c:pt idx="60">
                  <c:v>4.48</c:v>
                </c:pt>
                <c:pt idx="61">
                  <c:v>5.37</c:v>
                </c:pt>
                <c:pt idx="62">
                  <c:v>7.62</c:v>
                </c:pt>
                <c:pt idx="63">
                  <c:v>9.61</c:v>
                </c:pt>
                <c:pt idx="64">
                  <c:v>9.64</c:v>
                </c:pt>
                <c:pt idx="65">
                  <c:v>6.68</c:v>
                </c:pt>
                <c:pt idx="66">
                  <c:v>2.44</c:v>
                </c:pt>
                <c:pt idx="67">
                  <c:v>0.73</c:v>
                </c:pt>
                <c:pt idx="68">
                  <c:v>-1.07</c:v>
                </c:pt>
                <c:pt idx="69">
                  <c:v>1.65</c:v>
                </c:pt>
                <c:pt idx="70">
                  <c:v>2.91</c:v>
                </c:pt>
                <c:pt idx="71">
                  <c:v>2.25</c:v>
                </c:pt>
                <c:pt idx="72">
                  <c:v>2.99</c:v>
                </c:pt>
                <c:pt idx="73">
                  <c:v>1.96</c:v>
                </c:pt>
                <c:pt idx="74">
                  <c:v>2.32</c:v>
                </c:pt>
                <c:pt idx="75">
                  <c:v>2.55</c:v>
                </c:pt>
                <c:pt idx="76">
                  <c:v>1.89</c:v>
                </c:pt>
                <c:pt idx="77">
                  <c:v>2.66</c:v>
                </c:pt>
                <c:pt idx="78">
                  <c:v>4.81</c:v>
                </c:pt>
                <c:pt idx="79">
                  <c:v>7.27</c:v>
                </c:pt>
                <c:pt idx="80">
                  <c:v>10.56</c:v>
                </c:pt>
                <c:pt idx="81">
                  <c:v>11.68</c:v>
                </c:pt>
                <c:pt idx="82">
                  <c:v>9.93</c:v>
                </c:pt>
                <c:pt idx="83">
                  <c:v>7.68</c:v>
                </c:pt>
                <c:pt idx="84">
                  <c:v>6.95</c:v>
                </c:pt>
                <c:pt idx="85">
                  <c:v>6.16</c:v>
                </c:pt>
                <c:pt idx="86">
                  <c:v>4.72</c:v>
                </c:pt>
                <c:pt idx="87">
                  <c:v>2.58</c:v>
                </c:pt>
                <c:pt idx="88">
                  <c:v>-0.07</c:v>
                </c:pt>
                <c:pt idx="89">
                  <c:v>-0.14</c:v>
                </c:pt>
                <c:pt idx="90">
                  <c:v>-1.27</c:v>
                </c:pt>
                <c:pt idx="91">
                  <c:v>-0.73</c:v>
                </c:pt>
                <c:pt idx="92">
                  <c:v>1.21</c:v>
                </c:pt>
                <c:pt idx="93">
                  <c:v>1.5</c:v>
                </c:pt>
                <c:pt idx="94">
                  <c:v>3.2</c:v>
                </c:pt>
                <c:pt idx="95">
                  <c:v>4.73</c:v>
                </c:pt>
                <c:pt idx="96">
                  <c:v>6.29</c:v>
                </c:pt>
                <c:pt idx="97">
                  <c:v>4.44</c:v>
                </c:pt>
                <c:pt idx="98">
                  <c:v>4.88</c:v>
                </c:pt>
                <c:pt idx="99">
                  <c:v>5.77</c:v>
                </c:pt>
                <c:pt idx="100">
                  <c:v>3.77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COVID-distorted (excluded)</c:v>
                </c:pt>
              </c:strCache>
            </c:strRef>
          </c:tx>
          <c:spPr>
            <a:solidFill>
              <a:srgbClr val="B5B5B5"/>
            </a:solidFill>
            <a:ln w="25400" cap="flat">
              <a:solidFill>
                <a:srgbClr val="B5B5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B5B5"/>
              </a:solidFill>
              <a:ln w="9525" cap="flat">
                <a:solidFill>
                  <a:srgbClr val="B5B5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2002</c:v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2006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2010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>2014</c:v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>2018</c:v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>2022</c:v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>2026</c:v>
                  </c:pt>
                  <c:pt idx="100">
                    <c:v/>
                  </c:pt>
                </c:lvl>
              </c:multiLvlStrCache>
            </c:multiLvlStrRef>
          </c:cat>
          <c:val>
            <c:numRef>
              <c:f>Sheet1!$D$2:$D$102</c:f>
              <c:numCache>
                <c:formatCode>General</c:formatCode>
                <c:ptCount val="10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>-0.69</c:v>
                </c:pt>
                <c:pt idx="75">
                  <c:v>3.43</c:v>
                </c:pt>
                <c:pt idx="76">
                  <c:v>23.09</c:v>
                </c:pt>
                <c:pt idx="77">
                  <c:v>18.77</c:v>
                </c:pt>
                <c:pt idx="78">
                  <c:v>19.59</c:v>
                </c:pt>
                <c:pt idx="79">
                  <c:v>6.53</c:v>
                </c:pt>
                <c:pt idx="80">
                  <c:v>-3.59</c:v>
                </c:pt>
                <c:pt idx="81">
                  <c:v>1.36</c:v>
                </c:pt>
                <c:pt idx="82">
                  <c:v>-1.95</c:v>
                </c:pt>
                <c:pt idx="83">
                  <c:v>6.71</c:v>
                </c:pt>
                <c:pt idx="84">
                  <c:v>-0.34</c:v>
                </c:pt>
                <c:pt idx="85">
                  <c:v>-2.38</c:v>
                </c:pt>
                <c:pt idx="86">
                  <c:v>2.17</c:v>
                </c:pt>
                <c:pt idx="87">
                  <c:v>3.51</c:v>
                </c:pt>
                <c:pt idx="88">
                  <c:v>3.05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5"/>
          <c:min val="-10"/>
        </c:scaling>
        <c:delete val="0"/>
        <c:axPos val="l"/>
        <c:majorGridlines>
          <c:spPr>
            <a:ln w="9525" cap="flat">
              <a:solidFill>
                <a:srgbClr val="DCE3E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Slope</c:v>
                </c:pt>
              </c:strCache>
            </c:strRef>
          </c:tx>
          <c:spPr>
            <a:solidFill>
              <a:srgbClr val="1F3A4D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A4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9BA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Category 2001–07</c:v>
                  </c:pt>
                  <c:pt idx="1">
                    <c:v>Category 2008–14</c:v>
                  </c:pt>
                  <c:pt idx="2">
                    <c:v>Category 2015–24</c:v>
                  </c:pt>
                  <c:pt idx="3">
                    <c:v>Europris LFL 2015–24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0.35</c:v>
                </c:pt>
                <c:pt idx="2">
                  <c:v>0.33</c:v>
                </c:pt>
                <c:pt idx="3">
                  <c:v>0.29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slope over 2001-24: +0.39 (t 3.42, n 76). Sub-periods: 2001-07 +0.41 (t 1.57, n 24); 2008-14 +0.35 (t 2.01, n 28); 2015-24 +0.33 (t 2.06, n 24); Europris LFL 2015-24 +0.29 (t 2.01, n 23). Correlation of category sales growth with house-price growth one quarter earlier (non-COVID quarters): 0.53. Europris LFL two quarters ahead: p 0.04. Holdout 2024Q3-2026Q2 out-of-sample R2 vs benchmark: next quarter 0.149 (COVID excluded) / 0.181 (COVID controlled); two quarters 0.221 / 0.272. Grade: moderate (strong in 25 years of category data, thin on Europris's own ~10 years). Source: research/europris_predictors/README.md.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prices lead sales by one quarter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25 years, each 1 pp of y/y house-price growth has been followed by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 to +0.4 pp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sales growth in Europris's category the next quarter, on top of sales momentum and calendar effects.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reading: +4.3% (2026Q2), a mild tailwind.</a:t>
            </a:r>
            <a:endParaRPr lang="en-US" sz="1600" dirty="0"/>
          </a:p>
        </p:txBody>
      </p:sp>
      <p:sp>
        <p:nvSpPr>
          <p:cNvPr id="4" name="line chart heading"/>
          <p:cNvSpPr txBox="1"/>
          <p:nvPr/>
        </p:nvSpPr>
        <p:spPr>
          <a:xfrm>
            <a:off x="4572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Category sales growth vs house-price growth one quarter earlier, % y/y</a:t>
            </a:r>
            <a:endParaRPr lang="en-US" sz="1600" dirty="0"/>
          </a:p>
        </p:txBody>
      </p:sp>
      <p:graphicFrame>
        <p:nvGraphicFramePr>
          <p:cNvPr id="5" name="line chart 25 years" descr=""/>
          <p:cNvGraphicFramePr/>
          <p:nvPr/>
        </p:nvGraphicFramePr>
        <p:xfrm>
          <a:off x="365760" y="2103120"/>
          <a:ext cx="7406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ar chart heading"/>
          <p:cNvSpPr txBox="1"/>
          <p:nvPr/>
        </p:nvSpPr>
        <p:spPr>
          <a:xfrm>
            <a:off x="8092440" y="17830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effect in every period</a:t>
            </a:r>
            <a:endParaRPr lang="en-US" sz="1600" dirty="0"/>
          </a:p>
        </p:txBody>
      </p:sp>
      <p:sp>
        <p:nvSpPr>
          <p:cNvPr id="7" name="bar chart caption"/>
          <p:cNvSpPr txBox="1"/>
          <p:nvPr/>
        </p:nvSpPr>
        <p:spPr>
          <a:xfrm>
            <a:off x="8092440" y="208483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</a:rPr>
              <a:t>Extra sales growth next quarter (pp) per 1 pp of house-price growth</a:t>
            </a:r>
            <a:endParaRPr lang="en-US" sz="1200" dirty="0"/>
          </a:p>
        </p:txBody>
      </p:sp>
      <p:graphicFrame>
        <p:nvGraphicFramePr>
          <p:cNvPr id="8" name="bar chart slopes by period" descr=""/>
          <p:cNvGraphicFramePr/>
          <p:nvPr/>
        </p:nvGraphicFramePr>
        <p:xfrm>
          <a:off x="8001000" y="2468880"/>
          <a:ext cx="3730752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Europris caveat"/>
          <p:cNvSpPr txBox="1"/>
          <p:nvPr/>
        </p:nvSpPr>
        <p:spPr>
          <a:xfrm>
            <a:off x="8092440" y="4206240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3"/>
                </a:solidFill>
              </a:rPr>
              <a:t>Europris's own data is shorter and noisier: significant with COVID-era quarters excluded (p 0.02), not when they are kept with controls (p 0.32).</a:t>
            </a:r>
            <a:endParaRPr lang="en-US" sz="1200" dirty="0"/>
          </a:p>
        </p:txBody>
      </p:sp>
      <p:sp>
        <p:nvSpPr>
          <p:cNvPr id="10" name="evidence card 1"/>
          <p:cNvSpPr/>
          <p:nvPr/>
        </p:nvSpPr>
        <p:spPr>
          <a:xfrm>
            <a:off x="457200" y="5257800"/>
            <a:ext cx="26471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1" name="evidence card 1 text"/>
          <p:cNvSpPr txBox="1"/>
          <p:nvPr/>
        </p:nvSpPr>
        <p:spPr>
          <a:xfrm>
            <a:off x="594360" y="5330952"/>
            <a:ext cx="23728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 = 0.005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25 years of category sales, 2001–24 (76 quarters)</a:t>
            </a:r>
            <a:endParaRPr lang="en-US" sz="2200" dirty="0"/>
          </a:p>
        </p:txBody>
      </p:sp>
      <p:sp>
        <p:nvSpPr>
          <p:cNvPr id="12" name="evidence card 2"/>
          <p:cNvSpPr/>
          <p:nvPr/>
        </p:nvSpPr>
        <p:spPr>
          <a:xfrm>
            <a:off x="3332988" y="5257800"/>
            <a:ext cx="26471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evidence card 2 text"/>
          <p:cNvSpPr txBox="1"/>
          <p:nvPr/>
        </p:nvSpPr>
        <p:spPr>
          <a:xfrm>
            <a:off x="3470148" y="5330952"/>
            <a:ext cx="23728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 = 0.04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2001–14 alone, before Europris's own data starts</a:t>
            </a:r>
            <a:endParaRPr lang="en-US" sz="2200" dirty="0"/>
          </a:p>
        </p:txBody>
      </p:sp>
      <p:sp>
        <p:nvSpPr>
          <p:cNvPr id="14" name="evidence card 3"/>
          <p:cNvSpPr/>
          <p:nvPr/>
        </p:nvSpPr>
        <p:spPr>
          <a:xfrm>
            <a:off x="6208776" y="5257800"/>
            <a:ext cx="26471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evidence card 3 text"/>
          <p:cNvSpPr txBox="1"/>
          <p:nvPr/>
        </p:nvSpPr>
        <p:spPr>
          <a:xfrm>
            <a:off x="6345936" y="5330952"/>
            <a:ext cx="23728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 = 0.02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Europris like-for-like sales, next quarter, 2015–24 (n = 23)</a:t>
            </a:r>
            <a:endParaRPr lang="en-US" sz="2200" dirty="0"/>
          </a:p>
        </p:txBody>
      </p:sp>
      <p:sp>
        <p:nvSpPr>
          <p:cNvPr id="16" name="evidence card 4"/>
          <p:cNvSpPr/>
          <p:nvPr/>
        </p:nvSpPr>
        <p:spPr>
          <a:xfrm>
            <a:off x="9084564" y="5257800"/>
            <a:ext cx="264718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7" name="evidence card 4 text"/>
          <p:cNvSpPr txBox="1"/>
          <p:nvPr/>
        </p:nvSpPr>
        <p:spPr>
          <a:xfrm>
            <a:off x="9221724" y="5330952"/>
            <a:ext cx="23728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3.3 → 3.0 pp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Next-quarter LFL forecast error on unseen 2024Q3–26Q2</a:t>
            </a:r>
            <a:endParaRPr lang="en-US" sz="2200" dirty="0"/>
          </a:p>
        </p:txBody>
      </p:sp>
      <p:sp>
        <p:nvSpPr>
          <p:cNvPr id="18" name="Text 0"/>
          <p:cNvSpPr/>
          <p:nvPr>
            <p:ph idx="102" type="body" hasCustomPrompt="1"/>
          </p:nvPr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SSB house price index (table 07221); SSB retail trade index NACE 47.19, calendar adjusted (table 07129; Europris is about two-thirds of the category); Europris quarterly reports. Slopes control for last quarter's sales growth, base effect, Easter and trading days; COVID-distorted quarters 2020Q1–23Q1 excluded. p-values from calibrated randomisation tests.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dic Housing">
  <a:themeElements>
    <a:clrScheme name="Nordic Housing">
      <a:dk1>
        <a:srgbClr val="1E2B33"/>
      </a:dk1>
      <a:lt1>
        <a:srgbClr val="FFFFFF"/>
      </a:lt1>
      <a:dk2>
        <a:srgbClr val="1F3A4D"/>
      </a:dk2>
      <a:lt2>
        <a:srgbClr val="EEF2F4"/>
      </a:lt2>
      <a:accent1>
        <a:srgbClr val="1F3A4D"/>
      </a:accent1>
      <a:accent2>
        <a:srgbClr val="C8553D"/>
      </a:accent2>
      <a:accent3>
        <a:srgbClr val="7F9BAD"/>
      </a:accent3>
      <a:accent4>
        <a:srgbClr val="B5B5B5"/>
      </a:accent4>
      <a:accent5>
        <a:srgbClr val="5E6B73"/>
      </a:accent5>
      <a:accent6>
        <a:srgbClr val="D9A441"/>
      </a:accent6>
      <a:hlink>
        <a:srgbClr val="1F3A4D"/>
      </a:hlink>
      <a:folHlink>
        <a:srgbClr val="5E6B73"/>
      </a:folHlink>
    </a:clrScheme>
    <a:fontScheme name="Nordic Hous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prices as a leading indicator of Europris sales</dc:title>
  <dc:subject>PptxGenJS Presentation</dc:subject>
  <dc:creator>Europris predictors research</dc:creator>
  <cp:lastModifiedBy>Europris predictors research</cp:lastModifiedBy>
  <cp:revision>1</cp:revision>
  <dcterms:created xsi:type="dcterms:W3CDTF">2026-10-12T08:23:12Z</dcterms:created>
  <dcterms:modified xsi:type="dcterms:W3CDTF">2026-10-12T08:23:12Z</dcterms:modified>
</cp:coreProperties>
</file>